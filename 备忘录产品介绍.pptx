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8a38c1e5bd4aae" /><Relationship Type="http://schemas.openxmlformats.org/officeDocument/2006/relationships/extended-properties" Target="/docProps/app.xml" Id="Rd1c62e9e55c64d75" /><Relationship Type="http://schemas.openxmlformats.org/officeDocument/2006/relationships/officeDocument" Target="/ppt/presentation.xml" Id="Rffa8ca74b35f46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e91ef0b25d4269"/>
  </p:sldMasterIdLst>
  <p:notesMasterIdLst>
    <p:notesMasterId xmlns:r="http://schemas.openxmlformats.org/officeDocument/2006/relationships" r:id="Rfff0f58ce906424b"/>
  </p:notesMasterIdLst>
  <p:sldIdLst>
    <p:sldId xmlns:r="http://schemas.openxmlformats.org/officeDocument/2006/relationships" id="256" r:id="R701a43996de94c47"/>
    <p:sldId xmlns:r="http://schemas.openxmlformats.org/officeDocument/2006/relationships" id="257" r:id="R28ce19a92c2e4210"/>
    <p:sldId xmlns:r="http://schemas.openxmlformats.org/officeDocument/2006/relationships" id="258" r:id="Rdeece4a67d824995"/>
    <p:sldId xmlns:r="http://schemas.openxmlformats.org/officeDocument/2006/relationships" id="259" r:id="R8164aaaf167b4a69"/>
    <p:sldId xmlns:r="http://schemas.openxmlformats.org/officeDocument/2006/relationships" id="260" r:id="R0ee159a2151e4f11"/>
    <p:sldId xmlns:r="http://schemas.openxmlformats.org/officeDocument/2006/relationships" id="261" r:id="Raa85ce4fd10f42cc"/>
    <p:sldId xmlns:r="http://schemas.openxmlformats.org/officeDocument/2006/relationships" id="262" r:id="Rd3268b2e45da44a8"/>
    <p:sldId xmlns:r="http://schemas.openxmlformats.org/officeDocument/2006/relationships" id="263" r:id="Rc77e52f5854c4d41"/>
    <p:sldId xmlns:r="http://schemas.openxmlformats.org/officeDocument/2006/relationships" id="264" r:id="Rd73d98d9be3b42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4b818b1aed419d" /><Relationship Type="http://schemas.openxmlformats.org/officeDocument/2006/relationships/slideMaster" Target="/ppt/slideMasters/slideMaster1.xml" Id="R37e91ef0b25d4269" /><Relationship Type="http://schemas.openxmlformats.org/officeDocument/2006/relationships/notesMaster" Target="/ppt/notesMasters/notesMaster1.xml" Id="Rfff0f58ce906424b" /><Relationship Type="http://schemas.openxmlformats.org/officeDocument/2006/relationships/presProps" Target="/ppt/presProps.xml" Id="R11353c99ce7b4bbe" /><Relationship Type="http://schemas.openxmlformats.org/officeDocument/2006/relationships/tableStyles" Target="/ppt/tableStyles.xml" Id="R1af0bedc24b6478e" /><Relationship Type="http://schemas.openxmlformats.org/officeDocument/2006/relationships/slide" Target="/ppt/slides/slide1.xml" Id="R701a43996de94c47" /><Relationship Type="http://schemas.openxmlformats.org/officeDocument/2006/relationships/slide" Target="/ppt/slides/slide2.xml" Id="R28ce19a92c2e4210" /><Relationship Type="http://schemas.openxmlformats.org/officeDocument/2006/relationships/slide" Target="/ppt/slides/slide3.xml" Id="Rdeece4a67d824995" /><Relationship Type="http://schemas.openxmlformats.org/officeDocument/2006/relationships/slide" Target="/ppt/slides/slide4.xml" Id="R8164aaaf167b4a69" /><Relationship Type="http://schemas.openxmlformats.org/officeDocument/2006/relationships/slide" Target="/ppt/slides/slide5.xml" Id="R0ee159a2151e4f11" /><Relationship Type="http://schemas.openxmlformats.org/officeDocument/2006/relationships/slide" Target="/ppt/slides/slide6.xml" Id="Raa85ce4fd10f42cc" /><Relationship Type="http://schemas.openxmlformats.org/officeDocument/2006/relationships/slide" Target="/ppt/slides/slide7.xml" Id="Rd3268b2e45da44a8" /><Relationship Type="http://schemas.openxmlformats.org/officeDocument/2006/relationships/slide" Target="/ppt/slides/slide8.xml" Id="Rc77e52f5854c4d41" /><Relationship Type="http://schemas.openxmlformats.org/officeDocument/2006/relationships/slide" Target="/ppt/slides/slide9.xml" Id="Rd73d98d9be3b42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c038fc748346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39e4de0b1f4532" /><Relationship Type="http://schemas.openxmlformats.org/officeDocument/2006/relationships/notesMaster" Target="/ppt/notesMasters/notesMaster1.xml" Id="R3624e75c1585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a59f6c52294deb" /><Relationship Type="http://schemas.openxmlformats.org/officeDocument/2006/relationships/notesMaster" Target="/ppt/notesMasters/notesMaster1.xml" Id="R66d7640424414d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ca49f9633484c" /><Relationship Type="http://schemas.openxmlformats.org/officeDocument/2006/relationships/notesMaster" Target="/ppt/notesMasters/notesMaster1.xml" Id="R32a5c54fe85d48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6c3d1ed64f4f64" /><Relationship Type="http://schemas.openxmlformats.org/officeDocument/2006/relationships/notesMaster" Target="/ppt/notesMasters/notesMaster1.xml" Id="Rcd5d9fee6aea44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78cf6254694214" /><Relationship Type="http://schemas.openxmlformats.org/officeDocument/2006/relationships/notesMaster" Target="/ppt/notesMasters/notesMaster1.xml" Id="Rf266b96436f047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b27f58616441b5" /><Relationship Type="http://schemas.openxmlformats.org/officeDocument/2006/relationships/notesMaster" Target="/ppt/notesMasters/notesMaster1.xml" Id="R7e83d63555db46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54b4883ace4685" /><Relationship Type="http://schemas.openxmlformats.org/officeDocument/2006/relationships/notesMaster" Target="/ppt/notesMasters/notesMaster1.xml" Id="R616e59d079864d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e493617919420e" /><Relationship Type="http://schemas.openxmlformats.org/officeDocument/2006/relationships/notesMaster" Target="/ppt/notesMasters/notesMaster1.xml" Id="R74f776824fe149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717cb4c7b646e3" /><Relationship Type="http://schemas.openxmlformats.org/officeDocument/2006/relationships/notesMaster" Target="/ppt/notesMasters/notesMaster1.xml" Id="Rf04a13ba4ac0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454d5dd2d45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9e428e43b945be" /><Relationship Type="http://schemas.openxmlformats.org/officeDocument/2006/relationships/slideLayout" Target="/ppt/slideLayouts/slideLayout1.xml" Id="R244d9d1d59a948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4d9d1d59a948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20eee44c64943" /><Relationship Type="http://schemas.openxmlformats.org/officeDocument/2006/relationships/notesSlide" Target="/ppt/notesSlides/notesSlide1.xml" Id="Rc9805c8434f949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07e5c22594151" /><Relationship Type="http://schemas.openxmlformats.org/officeDocument/2006/relationships/notesSlide" Target="/ppt/notesSlides/notesSlide2.xml" Id="R14b07e6bbff04d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a0544be45428c" /><Relationship Type="http://schemas.openxmlformats.org/officeDocument/2006/relationships/notesSlide" Target="/ppt/notesSlides/notesSlide3.xml" Id="R9d430877ba9649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5fdabd0da4b18" /><Relationship Type="http://schemas.openxmlformats.org/officeDocument/2006/relationships/notesSlide" Target="/ppt/notesSlides/notesSlide4.xml" Id="R62244558f6584c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ea8660d4745d6" /><Relationship Type="http://schemas.openxmlformats.org/officeDocument/2006/relationships/notesSlide" Target="/ppt/notesSlides/notesSlide5.xml" Id="R125a44b2f1f14e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6a2e696854f25" /><Relationship Type="http://schemas.openxmlformats.org/officeDocument/2006/relationships/notesSlide" Target="/ppt/notesSlides/notesSlide6.xml" Id="R2551654bb54042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7f804ac54614" /><Relationship Type="http://schemas.openxmlformats.org/officeDocument/2006/relationships/notesSlide" Target="/ppt/notesSlides/notesSlide7.xml" Id="Ref967b7f26384d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86dc204944515" /><Relationship Type="http://schemas.openxmlformats.org/officeDocument/2006/relationships/notesSlide" Target="/ppt/notesSlides/notesSlide8.xml" Id="R9e8cd9cf13274b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84dd79c68489b" /><Relationship Type="http://schemas.openxmlformats.org/officeDocument/2006/relationships/notesSlide" Target="/ppt/notesSlides/notesSlide9.xml" Id="Rcef51a2a13b241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C672A-0529-4C46-BBD6-47C20D63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7AF88-3C1F-476C-A9F6-C4C721B8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62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1DB2B-2199-4ECA-A8D9-BBFCE236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8F027-ACF7-4D41-9BF2-6D9125DE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A1A2E"/>
                </a:solidFill>
              </a:defRPr>
            </a:pPr>
            <a:r>
              <a:rPr sz="5400" b="1">
                <a:solidFill>
                  <a:srgbClr val="1A1A2E"/>
                </a:solidFill>
              </a:rPr>
              <a:t>备忘录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86D3F-E83F-4463-8C82-E17EF565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极简桌面笔记应用 · 产品设计与技术架构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16875-FBC8-45C6-8BD4-53A34F48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55363-A792-420B-81E4-9C466E6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Electron · React 18 · TypeScript · CodeMirror · Vitest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FD581-C1FC-47FA-9360-FEABC58C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1 / 9</a:t>
            </a:r>
          </a:p>
        </p:txBody>
      </p:sp>
    </p:spTree>
    <p:extLst>
      <p:ext uri="{BB962C8B-B14F-4D97-AF65-F5344CB8AC3E}">
        <p14:creationId xmlns:p14="http://schemas.microsoft.com/office/powerpoint/2010/main" val="1741814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AB50C-F231-4276-A347-3F48877C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2E"/>
                </a:solidFill>
              </a:defRPr>
            </a:pPr>
            <a:r>
              <a:rPr sz="2700" b="1">
                <a:solidFill>
                  <a:srgbClr val="1A1A2E"/>
                </a:solidFill>
              </a:rPr>
              <a:t>产品概述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7214D-75EA-41F1-B602-12923D45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8A95F-BF49-433D-AB41-74EF13B9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A1A2E"/>
                </a:solidFill>
              </a:defRPr>
            </a:pPr>
            <a:r>
              <a:rPr sz="1500">
                <a:solidFill>
                  <a:srgbClr val="1A1A2E"/>
                </a:solidFill>
              </a:rPr>
              <a:t>备忘录是一款基于 Electron 框架构建的跨平台桌面笔记应用，</a:t>
            </a:r>
          </a:p>
          <a:p xmlns:a="http://schemas.openxmlformats.org/drawingml/2006/main">
            <a:pPr>
              <a:defRPr sz="1500">
                <a:solidFill>
                  <a:srgbClr val="1A1A2E"/>
                </a:solidFill>
              </a:defRPr>
            </a:pPr>
            <a:r>
              <a:rPr sz="1500">
                <a:solidFill>
                  <a:srgbClr val="1A1A2E"/>
                </a:solidFill>
              </a:rPr>
              <a:t>旨在为用户提供简洁、高效、离线的笔记管理体验。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7FFE9-201E-418F-AC96-D44FAA97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54077-E53B-404E-9892-6F622247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/>
            </a:pPr>
            <a:r>
              <a:rPr sz="2400"/>
              <a:t>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B8E0C-C7EA-4F81-B85D-436514BD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2E"/>
                </a:solidFill>
              </a:defRPr>
            </a:pPr>
            <a:r>
              <a:rPr sz="1500" b="1">
                <a:solidFill>
                  <a:srgbClr val="1A1A2E"/>
                </a:solidFill>
              </a:rPr>
              <a:t>即时响应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BA0F8-3EB5-4760-85A4-C879AEAA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纯本地存储，零网络延迟</a:t>
            </a:r>
          </a:p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所有数据存储在本地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D8002-6117-4F4D-AD02-F61874D4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ED4AD-82CE-4A79-ADF1-9952BE38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/>
            </a:pPr>
            <a:r>
              <a:rPr sz="2400"/>
              <a:t>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52AD8-F3D9-4272-A2B0-7A7421BE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2E"/>
                </a:solidFill>
              </a:defRPr>
            </a:pPr>
            <a:r>
              <a:rPr sz="1500" b="1">
                <a:solidFill>
                  <a:srgbClr val="1A1A2E"/>
                </a:solidFill>
              </a:rPr>
              <a:t>极简设计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EAA39-401F-40A1-821D-A73B21CA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清爽的界面设计</a:t>
            </a:r>
          </a:p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减少认知负担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F09DA-625C-4FCC-8D69-4E9157AE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A6A73-CA9E-40EC-A483-7601E360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/>
            </a:pPr>
            <a:r>
              <a:rPr sz="2400"/>
              <a:t>✍️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91FFF-0FD2-4CBD-ABE3-3DE325C2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2E"/>
                </a:solidFill>
              </a:defRPr>
            </a:pPr>
            <a:r>
              <a:rPr sz="1500" b="1">
                <a:solidFill>
                  <a:srgbClr val="1A1A2E"/>
                </a:solidFill>
              </a:rPr>
              <a:t>Markdown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10CC4-FEDA-4CA4-B8AF-3CB4DDB2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内置 Markdown 编辑</a:t>
            </a:r>
          </a:p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实时预览渲染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174A0-80D8-4974-B8A2-6DD21664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支持 macOS · Windows · Linux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768FD-B64C-4F8C-B23F-C4E9C90E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2 / 9</a:t>
            </a:r>
          </a:p>
        </p:txBody>
      </p:sp>
    </p:spTree>
    <p:extLst>
      <p:ext uri="{BB962C8B-B14F-4D97-AF65-F5344CB8AC3E}">
        <p14:creationId xmlns:p14="http://schemas.microsoft.com/office/powerpoint/2010/main" val="1488225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A1312-8958-46D7-953F-092CD7D3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2E"/>
                </a:solidFill>
              </a:defRPr>
            </a:pPr>
            <a:r>
              <a:rPr sz="2700" b="1">
                <a:solidFill>
                  <a:srgbClr val="1A1A2E"/>
                </a:solidFill>
              </a:rPr>
              <a:t>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E4D91-88EC-4805-A5B8-B32CB027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29F6B-CCF9-4507-8660-04B1864E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5E7F4-BA4D-455C-B081-5A150180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A1A2E"/>
                </a:solidFill>
              </a:defRPr>
            </a:pPr>
            <a:r>
              <a:rPr sz="1275">
                <a:solidFill>
                  <a:srgbClr val="1A1A2E"/>
                </a:solidFill>
              </a:rPr>
              <a:t>增删改查 — 快速创建、编辑、删除备忘，支持完成标记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29663-ECD8-4B63-A237-41D2B305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6371C-C402-4599-9F89-C273AC8C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192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A1A2E"/>
                </a:solidFill>
              </a:defRPr>
            </a:pPr>
            <a:r>
              <a:rPr sz="1275">
                <a:solidFill>
                  <a:srgbClr val="1A1A2E"/>
                </a:solidFill>
              </a:rPr>
              <a:t>Markdown 编辑 — CodeMirror 语法高亮 + react-markdown 实时预览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1D23B-D9D8-4CB9-AC62-534EF0D7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D4448-D2CE-4C9F-BAAA-701845DA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A1A2E"/>
                </a:solidFill>
              </a:defRPr>
            </a:pPr>
            <a:r>
              <a:rPr sz="1275">
                <a:solidFill>
                  <a:srgbClr val="1A1A2E"/>
                </a:solidFill>
              </a:rPr>
              <a:t>搜索过滤 — 标题和内容全文搜索，大小写不敏感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81927-4DD7-431F-9BFC-58CCB2FC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DBCE5-8C2B-4C28-BDAB-FF925A8F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A1A2E"/>
                </a:solidFill>
              </a:defRPr>
            </a:pPr>
            <a:r>
              <a:rPr sz="1275">
                <a:solidFill>
                  <a:srgbClr val="1A1A2E"/>
                </a:solidFill>
              </a:rPr>
              <a:t>颜色背景 — 8 种背景色可选，视觉区分不同备忘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2EA77-3BEE-4596-ACD3-0E49013D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F780A-5174-4E8F-863B-5344929D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A1A2E"/>
                </a:solidFill>
              </a:defRPr>
            </a:pPr>
            <a:r>
              <a:rPr sz="1275">
                <a:solidFill>
                  <a:srgbClr val="1A1A2E"/>
                </a:solidFill>
              </a:rPr>
              <a:t>编辑历史 — 完整记录每次编辑，支持查看历史版本摘要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1A02A-9EE6-4A19-B93D-ADB2D899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2974C-6FCB-4876-8161-227B6BC2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A1A2E"/>
                </a:solidFill>
              </a:defRPr>
            </a:pPr>
            <a:r>
              <a:rPr sz="1275">
                <a:solidFill>
                  <a:srgbClr val="1A1A2E"/>
                </a:solidFill>
              </a:rPr>
              <a:t>离线存储 — localStorage 持久化，数据完全保存在本地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A35FC-3E83-4C93-B2F5-6992328D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E77B2-F453-47F9-A968-3DD4DB4C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A1A2E"/>
                </a:solidFill>
              </a:defRPr>
            </a:pPr>
            <a:r>
              <a:rPr sz="1275">
                <a:solidFill>
                  <a:srgbClr val="1A1A2E"/>
                </a:solidFill>
              </a:rPr>
              <a:t>字符计数 — 实时显示 500 字上限，超限警告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F8FC0-ACE1-431F-A737-565CFAC0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B710A-575B-4DC2-84AB-BE5D712A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A1A2E"/>
                </a:solidFill>
              </a:defRPr>
            </a:pPr>
            <a:r>
              <a:rPr sz="1275">
                <a:solidFill>
                  <a:srgbClr val="1A1A2E"/>
                </a:solidFill>
              </a:rPr>
              <a:t>响应式布局 — 窗口自适应，最小 600×400 像素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CF664-243B-4E98-AB54-05CB30C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3 / 9</a:t>
            </a:r>
          </a:p>
        </p:txBody>
      </p:sp>
    </p:spTree>
    <p:extLst>
      <p:ext uri="{BB962C8B-B14F-4D97-AF65-F5344CB8AC3E}">
        <p14:creationId xmlns:p14="http://schemas.microsoft.com/office/powerpoint/2010/main" val="935772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C5671-2E95-48E0-8DBB-AAB9D58B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2E"/>
                </a:solidFill>
              </a:defRPr>
            </a:pPr>
            <a:r>
              <a:rPr sz="2700" b="1">
                <a:solidFill>
                  <a:srgbClr val="1A1A2E"/>
                </a:solidFill>
              </a:rPr>
              <a:t>产品设计理念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A1132-E269-4141-9B58-1403E305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37794-543B-40F0-80EA-E207DAF0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0D9"/>
                </a:solidFill>
              </a:defRPr>
            </a:pPr>
            <a:r>
              <a:rPr sz="2100" b="1">
                <a:solidFill>
                  <a:srgbClr val="4A90D9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4017B-E066-4162-A1F0-4A289558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2E"/>
                </a:solidFill>
              </a:defRPr>
            </a:pPr>
            <a:r>
              <a:rPr sz="1650" b="1">
                <a:solidFill>
                  <a:srgbClr val="1A1A2E"/>
                </a:solidFill>
              </a:rPr>
              <a:t>零配置启动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4B116-8AA2-46EF-8282-344B763D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无需注册、登录、联网。打开即用，数据完全本地化。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B8756-584E-4B4A-84AE-37EAD73D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0D9"/>
                </a:solidFill>
              </a:defRPr>
            </a:pPr>
            <a:r>
              <a:rPr sz="2100" b="1">
                <a:solidFill>
                  <a:srgbClr val="4A90D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B0D4A-1B82-49CF-AF6A-E1D8DD33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2E"/>
                </a:solidFill>
              </a:defRPr>
            </a:pPr>
            <a:r>
              <a:rPr sz="1650" b="1">
                <a:solidFill>
                  <a:srgbClr val="1A1A2E"/>
                </a:solidFill>
              </a:rPr>
              <a:t>渐进式复杂度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1E868-4477-4D76-A55C-02809EA9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默认界面极简，Markdown 编辑和预览按需切换，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不增加认知负担。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EC637-E746-4AA1-BF39-82C8CC3C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0D9"/>
                </a:solidFill>
              </a:defRPr>
            </a:pPr>
            <a:r>
              <a:rPr sz="2100" b="1">
                <a:solidFill>
                  <a:srgbClr val="4A90D9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F67DF-E0C2-4369-90A3-AAC7A059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2E"/>
                </a:solidFill>
              </a:defRPr>
            </a:pPr>
            <a:r>
              <a:rPr sz="1650" b="1">
                <a:solidFill>
                  <a:srgbClr val="1A1A2E"/>
                </a:solidFill>
              </a:rPr>
              <a:t>可靠的数据持久化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C7CB8-6A53-4EAD-B2CE-DA8319E0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localStorage 为主存储，每次修改自动保存。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即使崩溃也不会丢失数据。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BCCA5-14B0-4D15-A3CA-6BF0EC5B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A90D9"/>
                </a:solidFill>
              </a:defRPr>
            </a:pPr>
            <a:r>
              <a:rPr sz="2100" b="1">
                <a:solidFill>
                  <a:srgbClr val="4A90D9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42AFC-0AEA-4E3C-8412-E469901F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A2E"/>
                </a:solidFill>
              </a:defRPr>
            </a:pPr>
            <a:r>
              <a:rPr sz="1650" b="1">
                <a:solidFill>
                  <a:srgbClr val="1A1A2E"/>
                </a:solidFill>
              </a:rPr>
              <a:t>统一的视觉语言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9E4C3-7FE0-441C-BDF2-B47BE5C5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以 #4a90d9 蓝色为主色调，12px 圆角，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一致的间距和排版系统。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E2B98-5979-4A13-AE8E-3B6A716F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4 / 9</a:t>
            </a:r>
          </a:p>
        </p:txBody>
      </p:sp>
    </p:spTree>
    <p:extLst>
      <p:ext uri="{BB962C8B-B14F-4D97-AF65-F5344CB8AC3E}">
        <p14:creationId xmlns:p14="http://schemas.microsoft.com/office/powerpoint/2010/main" val="526713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F69F4-F288-408B-AB36-52A83FF3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2E"/>
                </a:solidFill>
              </a:defRPr>
            </a:pPr>
            <a:r>
              <a:rPr sz="2700" b="1">
                <a:solidFill>
                  <a:srgbClr val="1A1A2E"/>
                </a:solidFill>
              </a:rPr>
              <a:t>技术架构总览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2C629-059E-4A39-91D5-940E19DA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8EF68-947C-4D7D-B87B-3BFDA26B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9D25D-336D-499B-AEEF-7D3608C4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48059-1BFC-47B9-A72A-57C5AB35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2E"/>
                </a:solidFill>
              </a:defRPr>
            </a:pPr>
            <a:r>
              <a:rPr sz="1500" b="1">
                <a:solidFill>
                  <a:srgbClr val="1A1A2E"/>
                </a:solidFill>
              </a:rPr>
              <a:t>渲染进程 (Renderer)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DF262-7156-46D5-B16D-BF1B74D8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A90D9"/>
                </a:solidFill>
              </a:defRPr>
            </a:pPr>
            <a:r>
              <a:rPr sz="1050">
                <a:solidFill>
                  <a:srgbClr val="4A90D9"/>
                </a:solidFill>
              </a:rPr>
              <a:t>React 18 + TypeScript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57D55-8D8B-44BA-A7EB-B4BDD0CB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UI 组件 · Hooks · Context · CSS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D6DDB-7309-4A2E-9C00-17867B26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71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ED146-F9AA-42D2-96FA-A2DD31AA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1FC90-B6CB-4776-A84C-3A1202C4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2E"/>
                </a:solidFill>
              </a:defRPr>
            </a:pPr>
            <a:r>
              <a:rPr sz="1500" b="1">
                <a:solidFill>
                  <a:srgbClr val="1A1A2E"/>
                </a:solidFill>
              </a:rPr>
              <a:t>预加载脚本 (Preload)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69BA6-7711-4E1D-9270-3770AFCD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366F1"/>
                </a:solidFill>
              </a:defRPr>
            </a:pPr>
            <a:r>
              <a:rPr sz="1050">
                <a:solidFill>
                  <a:srgbClr val="6366F1"/>
                </a:solidFill>
              </a:rPr>
              <a:t>Electron Preload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E7B91-4D4C-488A-9949-3D8068F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051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安全的 IPC 桥接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D0AAA-F48F-4D99-8325-6D594356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71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47A86-DF63-4CE2-BFF9-8C770BED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23D5F-997B-482E-8AFD-CE8202C0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A2E"/>
                </a:solidFill>
              </a:defRPr>
            </a:pPr>
            <a:r>
              <a:rPr sz="1500" b="1">
                <a:solidFill>
                  <a:srgbClr val="1A1A2E"/>
                </a:solidFill>
              </a:rPr>
              <a:t>主进程 (Main)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8E3EC-D01C-49BC-A045-C948CFCD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C6FCE"/>
                </a:solidFill>
              </a:defRPr>
            </a:pPr>
            <a:r>
              <a:rPr sz="1050">
                <a:solidFill>
                  <a:srgbClr val="2C6FCE"/>
                </a:solidFill>
              </a:rPr>
              <a:t>Electron + Node.js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3194F-2D86-4E90-B649-F01A055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434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窗口管理 · 生命周期 · 系统集成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56895-4D09-4FCB-830F-2A4044A0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构建工具：electron-vite + Vite 5</a:t>
            </a:r>
          </a:p>
          <a:p xmlns:a="http://schemas.openxmlformats.org/drawingml/2006/main">
            <a:pPr>
              <a:defRPr sz="1050">
                <a:solidFill>
                  <a:srgbClr val="94A3B8"/>
                </a:solidFill>
              </a:defRPr>
            </a:pPr>
            <a:r>
              <a:rPr sz="1050">
                <a:solidFill>
                  <a:srgbClr val="94A3B8"/>
                </a:solidFill>
              </a:rPr>
              <a:t>打包工具：electron-vite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25D39-7459-4413-AB51-DFBEBDE1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5 / 9</a:t>
            </a:r>
          </a:p>
        </p:txBody>
      </p:sp>
    </p:spTree>
    <p:extLst>
      <p:ext uri="{BB962C8B-B14F-4D97-AF65-F5344CB8AC3E}">
        <p14:creationId xmlns:p14="http://schemas.microsoft.com/office/powerpoint/2010/main" val="552856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014A1-1251-4DAF-BA2B-77061FD1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2E"/>
                </a:solidFill>
              </a:defRPr>
            </a:pPr>
            <a:r>
              <a:rPr sz="2700" b="1">
                <a:solidFill>
                  <a:srgbClr val="1A1A2E"/>
                </a:solidFill>
              </a:rPr>
              <a:t>数据层设计 — MemoStore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F9E8C-2F84-45BF-9D9D-4D77A17C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85CB5-ED4C-43C2-A06D-A8A7AAFC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A1A2E"/>
                </a:solidFill>
              </a:defRPr>
            </a:pPr>
            <a:r>
              <a:rPr sz="1350">
                <a:solidFill>
                  <a:srgbClr val="1A1A2E"/>
                </a:solidFill>
              </a:rPr>
              <a:t>MemoStore 是应用的核心数据层，采用观察者模式，</a:t>
            </a:r>
          </a:p>
          <a:p xmlns:a="http://schemas.openxmlformats.org/drawingml/2006/main">
            <a:pPr>
              <a:defRPr sz="1350">
                <a:solidFill>
                  <a:srgbClr val="1A1A2E"/>
                </a:solidFill>
              </a:defRPr>
            </a:pPr>
            <a:r>
              <a:rPr sz="1350">
                <a:solidFill>
                  <a:srgbClr val="1A1A2E"/>
                </a:solidFill>
              </a:rPr>
              <a:t>管理所有备忘数据的增删改查和持久化。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055F5-E850-49E9-9E09-7D5CCCAB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D8AA4-C837-488B-B0FF-0278114C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class MemoStore {</a:t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private memos: Memo[]</a:t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private listeners: MemoListener[]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add(title, content, color?) → Memo</a:t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update(id, partial) → Memo | null</a:t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remove(id) → boolean</a:t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toggleDone(id) → Memo | null</a:t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search(query) → Memo[]</a:t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getStats() → MemoStats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onChange(fn) → unsubscribe</a:t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  // 每次变更自动: _save() → _notify()</a:t>
            </a:r>
          </a:p>
          <a:p xmlns:a="http://schemas.openxmlformats.org/drawingml/2006/main">
            <a:pPr>
              <a:defRPr sz="1125">
                <a:solidFill>
                  <a:srgbClr val="1A1A2E"/>
                </a:solidFill>
              </a:defRPr>
            </a:pPr>
            <a:r>
              <a:rPr sz="1125">
                <a:solidFill>
                  <a:srgbClr val="1A1A2E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BEF7D-163E-4F4B-A0D6-95352F91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572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612D7-0317-46A8-B81C-EB91EDC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B758B-2EC2-4067-8E03-D8B644BC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2E"/>
                </a:solidFill>
              </a:defRPr>
            </a:pPr>
            <a:r>
              <a:rPr sz="1200">
                <a:solidFill>
                  <a:srgbClr val="1A1A2E"/>
                </a:solidFill>
              </a:rPr>
              <a:t>每次修改自动触发 _save()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A3085-94AB-41B2-AF49-9B004C0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37B9F-9011-4366-BE6F-8FB980CA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2E"/>
                </a:solidFill>
              </a:defRPr>
            </a:pPr>
            <a:r>
              <a:rPr sz="1200">
                <a:solidFill>
                  <a:srgbClr val="1A1A2E"/>
                </a:solidFill>
              </a:rPr>
              <a:t>Observer 模式通知 UI 刷新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7B373-FFE2-4870-8FFC-69A856D6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BE3EA-141E-4BB6-8973-EC3C4284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2E"/>
                </a:solidFill>
              </a:defRPr>
            </a:pPr>
            <a:r>
              <a:rPr sz="1200">
                <a:solidFill>
                  <a:srgbClr val="1A1A2E"/>
                </a:solidFill>
              </a:rPr>
              <a:t>localStorage 自动降级处理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21B80-7AE9-494E-9125-CAF8FD94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55A0F-D5F2-4F44-B05F-1CE214E4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95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2E"/>
                </a:solidFill>
              </a:defRPr>
            </a:pPr>
            <a:r>
              <a:rPr sz="1200">
                <a:solidFill>
                  <a:srgbClr val="1A1A2E"/>
                </a:solidFill>
              </a:rPr>
              <a:t>编辑历史自动记录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6CC8E-AA71-48B9-8AC1-FB9A1FA9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BE984-85B0-4A78-B7C2-60E4BC7D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72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2E"/>
                </a:solidFill>
              </a:defRPr>
            </a:pPr>
            <a:r>
              <a:rPr sz="1200">
                <a:solidFill>
                  <a:srgbClr val="1A1A2E"/>
                </a:solidFill>
              </a:rPr>
              <a:t>数据副本返回，防止外部修改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43D9C-80C1-42C3-89F6-D83A48C8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6 / 9</a:t>
            </a:r>
          </a:p>
        </p:txBody>
      </p:sp>
    </p:spTree>
    <p:extLst>
      <p:ext uri="{BB962C8B-B14F-4D97-AF65-F5344CB8AC3E}">
        <p14:creationId xmlns:p14="http://schemas.microsoft.com/office/powerpoint/2010/main" val="1147374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97AC3-FEF3-41D5-BC99-B60A2199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2E"/>
                </a:solidFill>
              </a:defRPr>
            </a:pPr>
            <a:r>
              <a:rPr sz="2700" b="1">
                <a:solidFill>
                  <a:srgbClr val="1A1A2E"/>
                </a:solidFill>
              </a:rPr>
              <a:t>Markdown 编辑体验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3FFDE-5F40-4018-9892-8C215712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515E1-520E-46BF-92F8-73869672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A1A2E"/>
                </a:solidFill>
              </a:defRPr>
            </a:pPr>
            <a:r>
              <a:rPr sz="1350">
                <a:solidFill>
                  <a:srgbClr val="1A1A2E"/>
                </a:solidFill>
              </a:rPr>
              <a:t>编辑 / 预览双模式切换，CodeMirror 提供语法高亮，</a:t>
            </a:r>
          </a:p>
          <a:p xmlns:a="http://schemas.openxmlformats.org/drawingml/2006/main">
            <a:pPr>
              <a:defRPr sz="1350">
                <a:solidFill>
                  <a:srgbClr val="1A1A2E"/>
                </a:solidFill>
              </a:defRPr>
            </a:pPr>
            <a:r>
              <a:rPr sz="1350">
                <a:solidFill>
                  <a:srgbClr val="1A1A2E"/>
                </a:solidFill>
              </a:rPr>
              <a:t>react-markdown 渲染完整的 Markdown 语法。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729C8-914E-4255-8B4A-D73A719B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B2B3B-A920-4035-ACC1-D64F4717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A90D9"/>
                </a:solidFill>
              </a:defRPr>
            </a:pPr>
            <a:r>
              <a:rPr sz="1350" b="1">
                <a:solidFill>
                  <a:srgbClr val="4A90D9"/>
                </a:solidFill>
              </a:rPr>
              <a:t>编辑模式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6A14E-26FF-4A01-A67A-2743486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CodeMirror 6 编辑器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Markdown 语法高亮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实时字符计数 (500 上限)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超限警告样式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Ctrl+Enter 保存 (卡片编辑)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Esc 取消编辑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5BFC7-8262-42D2-82DD-FEB085FC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4953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CF974-1401-4F06-B3A1-5D37B6FF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AE60"/>
                </a:solidFill>
              </a:defRPr>
            </a:pPr>
            <a:r>
              <a:rPr sz="1350" b="1">
                <a:solidFill>
                  <a:srgbClr val="27AE60"/>
                </a:solidFill>
              </a:rPr>
              <a:t>预览模式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4DACB-95C0-4123-B8B7-C6D2D925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react-markdown 渲染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支持标题 / 列表 / 表格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代码块语法高亮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引用块 / 链接 / 图片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分隔线 / 加粗 / 斜体</a:t>
            </a:r>
          </a:p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· 安全 XSS 防护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DB594-FF0D-49D0-9B53-923E7FF0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4A3B8"/>
                </a:solidFill>
              </a:defRPr>
            </a:pPr>
            <a:r>
              <a:rPr sz="1125">
                <a:solidFill>
                  <a:srgbClr val="94A3B8"/>
                </a:solidFill>
              </a:rPr>
              <a:t>一键切换 · 即时预览 · 流畅过渡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97C22-E2EC-471B-AB4E-C84C2E3A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7 / 9</a:t>
            </a:r>
          </a:p>
        </p:txBody>
      </p:sp>
    </p:spTree>
    <p:extLst>
      <p:ext uri="{BB962C8B-B14F-4D97-AF65-F5344CB8AC3E}">
        <p14:creationId xmlns:p14="http://schemas.microsoft.com/office/powerpoint/2010/main" val="1376316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BB9DC-F1C1-442B-A549-D10A583A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2E"/>
                </a:solidFill>
              </a:defRPr>
            </a:pPr>
            <a:r>
              <a:rPr sz="2700" b="1">
                <a:solidFill>
                  <a:srgbClr val="1A1A2E"/>
                </a:solidFill>
              </a:rPr>
              <a:t>测试与质量保障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F67B9-0521-4634-8445-4780DB2F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102F-2663-45BA-A82C-DAC483E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BEA15-2CC0-4C21-8A08-3B9B548D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A90D9"/>
                </a:solidFill>
              </a:defRPr>
            </a:pPr>
            <a:r>
              <a:rPr sz="3000" b="1">
                <a:solidFill>
                  <a:srgbClr val="4A90D9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02CC6-D739-49E6-AB28-6779B547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测试文件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0C1BB-1D2C-4C12-9748-A9603DE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1450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A6BAA-1A1A-4B9D-8974-7E1774AB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66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7AE60"/>
                </a:solidFill>
              </a:defRPr>
            </a:pPr>
            <a:r>
              <a:rPr sz="3000" b="1">
                <a:solidFill>
                  <a:srgbClr val="27AE60"/>
                </a:solidFill>
              </a:rPr>
              <a:t>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F7DDF-7D92-4BD0-BFD1-0590AB58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测试用例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0DE43-8534-4FBD-AEC7-C07FAC86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1450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250DD-E0B0-41A8-A128-6B4DD28C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669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C6FCE"/>
                </a:solidFill>
              </a:defRPr>
            </a:pPr>
            <a:r>
              <a:rPr sz="3000" b="1">
                <a:solidFill>
                  <a:srgbClr val="2C6FCE"/>
                </a:solidFill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7FDA4-1ACD-4931-9A63-5130E8F0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62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通过率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7E64B-A93D-4009-AE36-918A95FB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A1A2E"/>
                </a:solidFill>
              </a:defRPr>
            </a:pPr>
            <a:r>
              <a:rPr sz="1350">
                <a:solidFill>
                  <a:srgbClr val="1A1A2E"/>
                </a:solidFill>
              </a:rPr>
              <a:t>测试覆盖范围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198B4-6C80-4FD5-97CD-8F254D7B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C6FE7-932C-4CF9-B508-72F753F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MemoStore 数据层测试 — 32 个用例，覆盖增删改查、搜索、持久化、编辑历史、边界情况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35B58-17B1-42F5-8508-AA5E7ACA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48C54-A8EF-4A5E-8E7E-304C7B60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MemoCard 组件测试 — 11 个用例，覆盖渲染、编辑、保存、取消、快捷键、历史显示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BE4C0-EDFF-4F2F-A259-8F659E8E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56CF7-9D33-49DE-91C9-F1042BD9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App 集成测试 — 7 个用例，覆盖完整用户流程：添加、删除、完成、搜索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CAFD7-B686-44AC-BFB0-6B61F439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72298-24E4-4CAA-9004-C75DEC1C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MemoForm 组件测试 — 6 个用例，覆盖表单提交、字符计数、清空重置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00028-120F-4A39-AFAF-05476B3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94AEF-364D-4A05-B8AD-7B5DCB5D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MemoList 组件测试 — 3 个用例，覆盖空状态、列表渲染、条件显示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69CA8-E27C-42E3-B7EA-CA32A652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8 / 9</a:t>
            </a:r>
          </a:p>
        </p:txBody>
      </p:sp>
    </p:spTree>
    <p:extLst>
      <p:ext uri="{BB962C8B-B14F-4D97-AF65-F5344CB8AC3E}">
        <p14:creationId xmlns:p14="http://schemas.microsoft.com/office/powerpoint/2010/main" val="190275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DA3EA-0481-4E65-AB53-B68AAAA9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3D9B9-6D25-4F39-BC74-7C3D95C5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1A2E"/>
                </a:solidFill>
              </a:defRPr>
            </a:pPr>
            <a:r>
              <a:rPr sz="2700" b="1">
                <a:solidFill>
                  <a:srgbClr val="1A1A2E"/>
                </a:solidFill>
              </a:rPr>
              <a:t>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A8CA8-0659-4155-A606-AF373EDD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57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90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25D91-B896-4755-B44C-D3856B2A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A1A2E"/>
                </a:solidFill>
              </a:defRPr>
            </a:pPr>
            <a:r>
              <a:rPr sz="1500">
                <a:solidFill>
                  <a:srgbClr val="1A1A2E"/>
                </a:solidFill>
              </a:rPr>
              <a:t>备忘录是一个完整的 Electron 桌面应用，展示了</a:t>
            </a:r>
          </a:p>
          <a:p xmlns:a="http://schemas.openxmlformats.org/drawingml/2006/main">
            <a:pPr>
              <a:defRPr sz="1500">
                <a:solidFill>
                  <a:srgbClr val="1A1A2E"/>
                </a:solidFill>
              </a:defRPr>
            </a:pPr>
            <a:r>
              <a:rPr sz="1500">
                <a:solidFill>
                  <a:srgbClr val="1A1A2E"/>
                </a:solidFill>
              </a:rPr>
              <a:t>现代前端技术栈在实际产品中的落地实践。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A0AD2-03A9-439F-BCF4-BBE41331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28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13308-CE50-49AA-A5BF-1C394A9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1A2E"/>
                </a:solidFill>
              </a:defRPr>
            </a:pPr>
            <a:r>
              <a:rPr sz="1200" b="1">
                <a:solidFill>
                  <a:srgbClr val="1A1A2E"/>
                </a:solidFill>
              </a:rPr>
              <a:t>Electron 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E9306-2560-4AAC-8A73-EA0B3473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桌面容器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16629-E536-4C00-8CE3-93F7C0BA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67000"/>
            <a:ext cx="228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CC2AE-FE42-4340-BE2F-B21E3D27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43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1A2E"/>
                </a:solidFill>
              </a:defRPr>
            </a:pPr>
            <a:r>
              <a:rPr sz="1200" b="1">
                <a:solidFill>
                  <a:srgbClr val="1A1A2E"/>
                </a:solidFill>
              </a:rPr>
              <a:t>React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F1B3D-DF03-4324-BE30-E232F99E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UI 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CEF10-E693-4A93-9B59-B05D6A4E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228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E7BFE-7AB6-4308-AD5F-194C8491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1A2E"/>
                </a:solidFill>
              </a:defRPr>
            </a:pPr>
            <a:r>
              <a:rPr sz="1200" b="1">
                <a:solidFill>
                  <a:srgbClr val="1A1A2E"/>
                </a:solidFill>
              </a:rPr>
              <a:t>TypeScript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335F5-5EE3-44A0-A657-A8DD7A73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类型安全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9740A-0D2C-473D-BE32-EFE53152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28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DB469-019B-4809-BB2C-C1B0A00F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1A2E"/>
                </a:solidFill>
              </a:defRPr>
            </a:pPr>
            <a:r>
              <a:rPr sz="1200" b="1">
                <a:solidFill>
                  <a:srgbClr val="1A1A2E"/>
                </a:solidFill>
              </a:rPr>
              <a:t>CodeMirror 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3D5DD-319A-4599-877E-E364DAB4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编辑器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90A12-BBFF-4056-9C00-5FE17E48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28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DA639-0422-4362-A793-F4122FCA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1A2E"/>
                </a:solidFill>
              </a:defRPr>
            </a:pPr>
            <a:r>
              <a:rPr sz="1200" b="1">
                <a:solidFill>
                  <a:srgbClr val="1A1A2E"/>
                </a:solidFill>
              </a:rPr>
              <a:t>react-markdown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1A153-F946-44FF-B429-06344049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Markdown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0DE32-DE25-436F-A145-EE82A65E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29000"/>
            <a:ext cx="228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C406C-C3AB-4E8D-B2E2-4A119BC7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05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1A2E"/>
                </a:solidFill>
              </a:defRPr>
            </a:pPr>
            <a:r>
              <a:rPr sz="1200" b="1">
                <a:solidFill>
                  <a:srgbClr val="1A1A2E"/>
                </a:solidFill>
              </a:rPr>
              <a:t>Vitest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99CFD-A017-4130-A94D-39C3725A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33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测试框架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7E3D-D069-4053-A07F-FA8A59FD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29000"/>
            <a:ext cx="228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9A79B5-5B21-4FCE-B415-F5DE43F4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1A2E"/>
                </a:solidFill>
              </a:defRPr>
            </a:pPr>
            <a:r>
              <a:rPr sz="1200" b="1">
                <a:solidFill>
                  <a:srgbClr val="1A1A2E"/>
                </a:solidFill>
              </a:rPr>
              <a:t>electron-vite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0CD34C-2482-4F08-AC96-E556C47A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构建工具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0B5497-771F-4E44-AF1B-48015615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228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53D37-07F2-4264-B4BB-A129C383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A1A2E"/>
                </a:solidFill>
              </a:defRPr>
            </a:pPr>
            <a:r>
              <a:rPr sz="1200" b="1">
                <a:solidFill>
                  <a:srgbClr val="1A1A2E"/>
                </a:solidFill>
              </a:rPr>
              <a:t>localStorage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C3DA1-56A9-4432-B01E-29D9B5D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33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数据持久化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86D65D-82B4-421A-8524-ADFBE87B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4A3B8"/>
                </a:solidFill>
              </a:defRPr>
            </a:pPr>
            <a:r>
              <a:rPr sz="1200">
                <a:solidFill>
                  <a:srgbClr val="94A3B8"/>
                </a:solidFill>
              </a:rPr>
              <a:t>未来方向：云同步 · 暗色模式 · 插件系统 · 移动端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DD8A2-CB4A-4E4E-9414-D61E7824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A90D9"/>
                </a:solidFill>
              </a:defRPr>
            </a:pPr>
            <a:r>
              <a:rPr sz="2700" b="1">
                <a:solidFill>
                  <a:srgbClr val="4A90D9"/>
                </a:solidFill>
              </a:rPr>
              <a:t>谢谢！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A74B8-4C2A-4910-9DA9-700D90F2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4A3B8"/>
                </a:solidFill>
              </a:defRPr>
            </a:pPr>
            <a:r>
              <a:rPr sz="825">
                <a:solidFill>
                  <a:srgbClr val="94A3B8"/>
                </a:solidFill>
              </a:rPr>
              <a:t>9 / 9</a:t>
            </a:r>
          </a:p>
        </p:txBody>
      </p:sp>
    </p:spTree>
    <p:extLst>
      <p:ext uri="{BB962C8B-B14F-4D97-AF65-F5344CB8AC3E}">
        <p14:creationId xmlns:p14="http://schemas.microsoft.com/office/powerpoint/2010/main" val="616130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2026-08-14T09:37:25.8930000Z</dcterms:created>
  <dcterms:modified xsi:type="dcterms:W3CDTF">2026-08-14T09:37:25.8930000Z</dcterms:modified>
</coreProperties>
</file>